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— PROVEN AT SCALE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serious company builds its own AI layer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keep the systems they already have and put one private, model-agnostic layer over everything — owned by them, not rented.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3401568" cy="1965960"/>
          </a:xfrm>
          <a:prstGeom prst="roundRect">
            <a:avLst>
              <a:gd name="adj" fmla="val 3721"/>
            </a:avLst>
          </a:prstGeom>
          <a:solidFill>
            <a:srgbClr val="EEF3F9"/>
          </a:solidFill>
          <a:ln/>
          <a:effectLst>
            <a:outerShdw sx="100000" sy="100000" kx="0" ky="0" algn="bl" rotWithShape="0" blurRad="101600" dist="38100" dir="5400000">
              <a:srgbClr val="9AA7B8">
                <a:alpha val="3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78992" y="2075688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Walmart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78992" y="2478024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78992" y="280720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 AI layer across all data &amp; clouds — built to avoid vendor lock-in.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78992" y="3447288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6D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3M  </a:t>
            </a:r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/ day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35424" y="1874520"/>
            <a:ext cx="3401568" cy="1965960"/>
          </a:xfrm>
          <a:prstGeom prst="roundRect">
            <a:avLst>
              <a:gd name="adj" fmla="val 3721"/>
            </a:avLst>
          </a:prstGeom>
          <a:solidFill>
            <a:srgbClr val="EEF3F9"/>
          </a:solidFill>
          <a:ln/>
          <a:effectLst>
            <a:outerShdw sx="100000" sy="100000" kx="0" ky="0" algn="bl" rotWithShape="0" blurRad="101600" dist="38100" dir="5400000">
              <a:srgbClr val="9AA7B8">
                <a:alpha val="3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91456" y="2075688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JPMorgan Chase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91456" y="2478024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Suite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791456" y="280720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Private, secure AI layer over the bank's own systems.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791456" y="3447288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230K+  </a:t>
            </a:r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247888" y="1874520"/>
            <a:ext cx="3401568" cy="1965960"/>
          </a:xfrm>
          <a:prstGeom prst="roundRect">
            <a:avLst>
              <a:gd name="adj" fmla="val 3721"/>
            </a:avLst>
          </a:prstGeom>
          <a:solidFill>
            <a:srgbClr val="EEF3F9"/>
          </a:solidFill>
          <a:ln/>
          <a:effectLst>
            <a:outerShdw sx="100000" sy="100000" kx="0" ky="0" algn="bl" rotWithShape="0" blurRad="101600" dist="38100" dir="5400000">
              <a:srgbClr val="9AA7B8">
                <a:alpha val="3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503920" y="2075688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Uber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503920" y="2478024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Gateway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503920" y="280720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governed layer over every model, with cost &amp; PII guardrails.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503920" y="3447288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6D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60+  </a:t>
            </a:r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 cases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22960" y="402336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EEF3F9"/>
          </a:solidFill>
          <a:ln/>
          <a:effectLst>
            <a:outerShdw sx="100000" sy="100000" kx="0" ky="0" algn="bl" rotWithShape="0" blurRad="101600" dist="38100" dir="5400000">
              <a:srgbClr val="9AA7B8">
                <a:alpha val="3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97280" y="424281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Morgan Stanley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4645152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@ Morgan Stanley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97280" y="4992624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layer over 100,000 internal research documents for advisors.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554126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6D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  </a:t>
            </a:r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advisor teams use it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382512" y="402336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EEF3F9"/>
          </a:solidFill>
          <a:ln/>
          <a:effectLst>
            <a:outerShdw sx="100000" sy="100000" kx="0" ky="0" algn="bl" rotWithShape="0" blurRad="101600" dist="38100" dir="5400000">
              <a:srgbClr val="9AA7B8">
                <a:alpha val="3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656832" y="424281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Klarna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656832" y="4645152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· OpenAI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656832" y="4992624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 over its own customer &amp; payment systems, 35+ languages.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656832" y="554126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700  </a:t>
            </a:r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agents' worth of work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22960" y="61722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models underneath (OpenAI · Google · Anthropic) stay swappable. The layer is the asset.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LAYER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CityAgent Insights — the same playbook, for us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private, model-agnostic AI analyst over our entire business — self-hosted, owned by us, delivering finished work.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3401568" cy="1874520"/>
          </a:xfrm>
          <a:prstGeom prst="roundRect">
            <a:avLst>
              <a:gd name="adj" fmla="val 3902"/>
            </a:avLst>
          </a:prstGeom>
          <a:solidFill>
            <a:srgbClr val="EEF3F9"/>
          </a:solidFill>
          <a:ln/>
          <a:effectLst>
            <a:outerShdw sx="100000" sy="100000" kx="0" ky="0" algn="bl" rotWithShape="0" blurRad="101600" dist="38100" dir="5400000">
              <a:srgbClr val="9AA7B8">
                <a:alpha val="3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78992" y="2286000"/>
            <a:ext cx="475488" cy="475488"/>
          </a:xfrm>
          <a:prstGeom prst="ellipse">
            <a:avLst/>
          </a:prstGeom>
          <a:solidFill>
            <a:srgbClr val="2E6DB4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286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91640" y="2322576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layer, every source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78992" y="294436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Fabric, Power BI, SQL, Snowflake, Tableau, MongoDB, CSV &amp; Excel — in one conversation.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35424" y="2011680"/>
            <a:ext cx="3401568" cy="1874520"/>
          </a:xfrm>
          <a:prstGeom prst="roundRect">
            <a:avLst>
              <a:gd name="adj" fmla="val 3902"/>
            </a:avLst>
          </a:prstGeom>
          <a:solidFill>
            <a:srgbClr val="EEF3F9"/>
          </a:solidFill>
          <a:ln/>
          <a:effectLst>
            <a:outerShdw sx="100000" sy="100000" kx="0" ky="0" algn="bl" rotWithShape="0" blurRad="101600" dist="38100" dir="5400000">
              <a:srgbClr val="9AA7B8">
                <a:alpha val="3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91456" y="2286000"/>
            <a:ext cx="475488" cy="47548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4791456" y="2286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04104" y="2322576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Cross-tenant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91456" y="294436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data across separate company tenants; each user signs in as themselves, security honoured.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47888" y="2011680"/>
            <a:ext cx="3401568" cy="1874520"/>
          </a:xfrm>
          <a:prstGeom prst="roundRect">
            <a:avLst>
              <a:gd name="adj" fmla="val 3902"/>
            </a:avLst>
          </a:prstGeom>
          <a:solidFill>
            <a:srgbClr val="EEF3F9"/>
          </a:solidFill>
          <a:ln/>
          <a:effectLst>
            <a:outerShdw sx="100000" sy="100000" kx="0" ky="0" algn="bl" rotWithShape="0" blurRad="101600" dist="38100" dir="5400000">
              <a:srgbClr val="9AA7B8">
                <a:alpha val="3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03920" y="2286000"/>
            <a:ext cx="475488" cy="475488"/>
          </a:xfrm>
          <a:prstGeom prst="ellipse">
            <a:avLst/>
          </a:prstGeom>
          <a:solidFill>
            <a:srgbClr val="2E6DB4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2286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16568" y="2322576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03920" y="294436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LLM — GPT, Claude, Grok — with automatic fallback. No vendor lock-in.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2960" y="4142232"/>
            <a:ext cx="3401568" cy="1874520"/>
          </a:xfrm>
          <a:prstGeom prst="roundRect">
            <a:avLst>
              <a:gd name="adj" fmla="val 3902"/>
            </a:avLst>
          </a:prstGeom>
          <a:solidFill>
            <a:srgbClr val="EEF3F9"/>
          </a:solidFill>
          <a:ln/>
          <a:effectLst>
            <a:outerShdw sx="100000" sy="100000" kx="0" ky="0" algn="bl" rotWithShape="0" blurRad="101600" dist="38100" dir="5400000">
              <a:srgbClr val="9AA7B8">
                <a:alpha val="3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78992" y="4416552"/>
            <a:ext cx="475488" cy="47548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2" name="Text 20"/>
          <p:cNvSpPr/>
          <p:nvPr/>
        </p:nvSpPr>
        <p:spPr>
          <a:xfrm>
            <a:off x="1078992" y="44165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91640" y="445312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anywhere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78992" y="50749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server, or on the user's own laptop so sensitive data never leaves.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35424" y="4142232"/>
            <a:ext cx="3401568" cy="1874520"/>
          </a:xfrm>
          <a:prstGeom prst="roundRect">
            <a:avLst>
              <a:gd name="adj" fmla="val 3902"/>
            </a:avLst>
          </a:prstGeom>
          <a:solidFill>
            <a:srgbClr val="EEF3F9"/>
          </a:solidFill>
          <a:ln/>
          <a:effectLst>
            <a:outerShdw sx="100000" sy="100000" kx="0" ky="0" algn="bl" rotWithShape="0" blurRad="101600" dist="38100" dir="5400000">
              <a:srgbClr val="9AA7B8">
                <a:alpha val="3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91456" y="4416552"/>
            <a:ext cx="475488" cy="475488"/>
          </a:xfrm>
          <a:prstGeom prst="ellipse">
            <a:avLst/>
          </a:prstGeom>
          <a:solidFill>
            <a:srgbClr val="2E6DB4"/>
          </a:solidFill>
          <a:ln/>
        </p:spPr>
      </p:sp>
      <p:sp>
        <p:nvSpPr>
          <p:cNvPr id="27" name="Text 25"/>
          <p:cNvSpPr/>
          <p:nvPr/>
        </p:nvSpPr>
        <p:spPr>
          <a:xfrm>
            <a:off x="4791456" y="44165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04104" y="445312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answers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791456" y="50749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checked against the data; incomplete dashboards refused before you see them.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247888" y="4142232"/>
            <a:ext cx="3401568" cy="1874520"/>
          </a:xfrm>
          <a:prstGeom prst="roundRect">
            <a:avLst>
              <a:gd name="adj" fmla="val 3902"/>
            </a:avLst>
          </a:prstGeom>
          <a:solidFill>
            <a:srgbClr val="EEF3F9"/>
          </a:solidFill>
          <a:ln/>
          <a:effectLst>
            <a:outerShdw sx="100000" sy="100000" kx="0" ky="0" algn="bl" rotWithShape="0" blurRad="101600" dist="38100" dir="5400000">
              <a:srgbClr val="9AA7B8">
                <a:alpha val="3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503920" y="4416552"/>
            <a:ext cx="475488" cy="47548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4165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116568" y="445312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deliverables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503920" y="50749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PowerPoint, Word, PDF &amp; CSV — not just a chat reply.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2615184" cy="1188720"/>
          </a:xfrm>
          <a:prstGeom prst="roundRect">
            <a:avLst>
              <a:gd name="adj" fmla="val 6154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755648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005840" y="2267712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 (self-hosted)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712464" y="1554480"/>
            <a:ext cx="2615184" cy="1188720"/>
          </a:xfrm>
          <a:prstGeom prst="roundRect">
            <a:avLst>
              <a:gd name="adj" fmla="val 6154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95344" y="1755648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8+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3895344" y="2267712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connected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601968" y="1554480"/>
            <a:ext cx="2615184" cy="1188720"/>
          </a:xfrm>
          <a:prstGeom prst="roundRect">
            <a:avLst>
              <a:gd name="adj" fmla="val 6154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84848" y="1755648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Cross-tenant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6784848" y="2267712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across group companies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491472" y="1554480"/>
            <a:ext cx="2615184" cy="1188720"/>
          </a:xfrm>
          <a:prstGeom prst="roundRect">
            <a:avLst>
              <a:gd name="adj" fmla="val 6154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74352" y="1755648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2,500+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9674352" y="2267712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" y="2971800"/>
            <a:ext cx="10543032" cy="2240280"/>
          </a:xfrm>
          <a:prstGeom prst="roundRect">
            <a:avLst>
              <a:gd name="adj" fmla="val 3265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97280" y="31546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&amp; PROVEN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356616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✓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— 54 tables across 4 lakehouses, per-user sign-in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✓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— per-user &amp; multi-tenant sign-in, cross-tenant merge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✓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view across two separate group companies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✓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Runtime — analysis on the user's own laptop, exact to source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3566160"/>
            <a:ext cx="4892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✓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gate caught a 56.4B under-count → corrected to the true 98.9B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✓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install auto-seeds 3 ready agents + a sample retail database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✓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working — dashboards, PPTX, DOCX, PDF, CSV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✓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isolation, private knowledge, SSO / LDAP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55321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rollout · more connectors · Windows helper · scheduled reports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2026-07-28T02:15:31Z</dcterms:created>
  <dcterms:modified xsi:type="dcterms:W3CDTF">2026-07-28T02:15:31Z</dcterms:modified>
</cp:coreProperties>
</file>